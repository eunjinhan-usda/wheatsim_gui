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51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228D3-64AF-4C8C-98C6-D62387AD87C6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3A500-2B25-4B0F-BD65-B4077D913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971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Crop simulation models are mathematical abstractions of the soil-plant-atmosphere continuum.  The models mimic known bio-physicochemical processes and feed-back mechanisms with a focus on crop growth, development and yield formation. In general, system models quantify the interacting cycles of carbon, nutrients, and water in the soil-plant-atmosphere continuum, making it possible to forecast the behavior of the system in response to changes in component variables and environmental factors.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0B584-2618-4862-AF9B-4C70D85621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81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BE4DF-97A1-B7BC-23CA-5A181C8B5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BECEC-C1B5-4CC7-92A1-96ABCEB1F4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035B6-EDBD-FC21-99CB-ABCACA72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2F34C-EC3C-46A0-A299-AC220D340AA6}" type="datetimeFigureOut">
              <a:rPr lang="en-US" smtClean="0"/>
              <a:t>03/19/2026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9C986-EFCC-43C1-9459-5410A0621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D6DD1-E92C-2D28-5C94-D65AA50D6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3183-00BA-4F82-8966-22B4CBDE5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282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4C4F3-1B50-89C6-2BBA-01019859D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294F5-E22D-2891-92CD-950C2EF46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BB524-F283-D406-7E57-8C9BDE24C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2F34C-EC3C-46A0-A299-AC220D340AA6}" type="datetimeFigureOut">
              <a:rPr lang="en-US" smtClean="0"/>
              <a:t>03/19/2026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00D97-75A5-1CBD-E6BF-4970032DA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FE806-E411-3752-BEC6-C04994816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3183-00BA-4F82-8966-22B4CBDE5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835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B000B-2EAB-E2B8-6D44-6F80AF1CC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D7031-C77A-7647-3B94-5CAC1BCA9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90554-DC40-9F76-1EC2-742840CB0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2F34C-EC3C-46A0-A299-AC220D340AA6}" type="datetimeFigureOut">
              <a:rPr lang="en-US" smtClean="0"/>
              <a:t>03/19/2026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7411F-1864-36DE-9477-C19CF992C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0AD21-725B-0456-95C5-B882032C1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3183-00BA-4F82-8966-22B4CBDE5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19EE-8551-30EA-9B8F-1C0AE7912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4EDE-D3F3-BEAA-97C2-4CB48CF6FF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BEDC0-BC66-B600-82C8-224CAF0B4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C1D7D-CD21-B413-8925-42C9F6C31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2F34C-EC3C-46A0-A299-AC220D340AA6}" type="datetimeFigureOut">
              <a:rPr lang="en-US" smtClean="0"/>
              <a:t>03/19/2026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CA5082-D7E0-C1F1-DDBA-3A19A67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EEC13-D787-5FAE-D74A-BC7569872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3183-00BA-4F82-8966-22B4CBDE5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2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A3E21-A0F8-FA83-4608-A7B4E6D0B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5E4D8-8144-5FED-1406-055E20CB0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6225E-6D04-EF40-02E9-BEB14FC1D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3BBAF6-7EE3-34A6-B4B0-EFC804161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F10D75-7B60-AB49-7636-4F2B60922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B6EBAD-D62B-40BE-4FC0-50616DF80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2F34C-EC3C-46A0-A299-AC220D340AA6}" type="datetimeFigureOut">
              <a:rPr lang="en-US" smtClean="0"/>
              <a:t>03/19/2026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D26063-A1D6-A7E2-BFEF-3F1C16E1E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27F5EF-1DA8-792B-38CE-127990FC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3183-00BA-4F82-8966-22B4CBDE5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217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D8095-A98A-26F6-488F-1E993AF1C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55A2A-ABBB-69A1-E8CC-E7680AB2E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2F34C-EC3C-46A0-A299-AC220D340AA6}" type="datetimeFigureOut">
              <a:rPr lang="en-US" smtClean="0"/>
              <a:t>03/19/2026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DC765C-2449-3360-5307-35ECFC61A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E545D-8F81-491A-7645-7D33BAD65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3183-00BA-4F82-8966-22B4CBDE5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81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DA96B-64F7-1B36-6672-91441C481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2F34C-EC3C-46A0-A299-AC220D340AA6}" type="datetimeFigureOut">
              <a:rPr lang="en-US" smtClean="0"/>
              <a:t>03/19/2026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767094-603D-586F-FE00-9B099DE4E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C7768-7095-B1C8-1306-26BEF741D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3183-00BA-4F82-8966-22B4CBDE5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79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8C199-BE32-22AB-E917-2485AAEA6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FC9C8-AE56-32D4-1487-B5592C271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42DEB7-77B7-0427-20A0-2FAF044CD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4F9EE-9024-0B85-1D73-9406E5CD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2F34C-EC3C-46A0-A299-AC220D340AA6}" type="datetimeFigureOut">
              <a:rPr lang="en-US" smtClean="0"/>
              <a:t>03/19/2026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EA918-27DA-AC35-8797-5B0F5EB44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46097-E585-B468-6C09-9E9F206D6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3183-00BA-4F82-8966-22B4CBDE5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50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6FDC-12BA-A141-FDBA-2EF632A29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268BDF-4900-7731-2266-8AE94EFC64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665F6-CE31-DB7E-D047-18282F591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60875-EEC9-9077-7D47-2BA9CFA48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2F34C-EC3C-46A0-A299-AC220D340AA6}" type="datetimeFigureOut">
              <a:rPr lang="en-US" smtClean="0"/>
              <a:t>03/19/2026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E5551-0D40-9C16-0F0D-DF63BB07E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747FE-B063-5EF5-0682-5EA9C7CEE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3183-00BA-4F82-8966-22B4CBDE5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41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4BB03-A627-BE38-520A-AC9817745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EB2372-6D0A-944C-C69F-77FA3DB1B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F8DDA-AF9E-8E93-E3A2-69263385A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2F34C-EC3C-46A0-A299-AC220D340AA6}" type="datetimeFigureOut">
              <a:rPr lang="en-US" smtClean="0"/>
              <a:t>03/19/2026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9FAFC-565E-7BB3-938C-F53D0A65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A99FC-A5A6-D331-953F-378068DDF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3183-00BA-4F82-8966-22B4CBDE5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89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51019D-1C02-A1F8-171D-9CD10580F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8164B-838B-6877-5908-CF8E4EB30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A59EB-35DB-9359-6C50-B17B3B4D3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2F34C-EC3C-46A0-A299-AC220D340AA6}" type="datetimeFigureOut">
              <a:rPr lang="en-US" smtClean="0"/>
              <a:t>03/19/2026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8B268-5010-8AEA-D87A-A8F20ADCE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30776-8E79-164A-3881-A78A287D7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3183-00BA-4F82-8966-22B4CBDE5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06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BD8173-62B7-0E15-0D4E-C8670EAD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5CA3E-C58F-FB95-3A72-67EA0F3D1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6DF3D-5629-7AAF-9FD2-862B6C0F5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A2F34C-EC3C-46A0-A299-AC220D340AA6}" type="datetimeFigureOut">
              <a:rPr lang="en-US" smtClean="0"/>
              <a:t>03/19/2026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18A5D-B143-E8A2-6830-716B92F99C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470C1-F134-0248-17DE-0325FEA70F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493183-00BA-4F82-8966-22B4CBDE5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3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825" y="18032"/>
            <a:ext cx="10515600" cy="106565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+mn-lt"/>
              </a:rPr>
              <a:t>Process-based Crop Simulation Models</a:t>
            </a:r>
          </a:p>
        </p:txBody>
      </p:sp>
      <p:sp>
        <p:nvSpPr>
          <p:cNvPr id="4" name="AutoShape 10"/>
          <p:cNvSpPr>
            <a:spLocks noChangeArrowheads="1"/>
          </p:cNvSpPr>
          <p:nvPr/>
        </p:nvSpPr>
        <p:spPr bwMode="auto">
          <a:xfrm>
            <a:off x="2868543" y="1191067"/>
            <a:ext cx="3448366" cy="5154623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Calibri" panose="020F0502020204030204" pitchFamily="34" charset="0"/>
            </a:endParaRPr>
          </a:p>
        </p:txBody>
      </p:sp>
      <p:sp>
        <p:nvSpPr>
          <p:cNvPr id="5" name="AutoShape 9"/>
          <p:cNvSpPr>
            <a:spLocks noChangeArrowheads="1"/>
          </p:cNvSpPr>
          <p:nvPr/>
        </p:nvSpPr>
        <p:spPr bwMode="auto">
          <a:xfrm>
            <a:off x="6740202" y="1191068"/>
            <a:ext cx="2168906" cy="3169692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Calibri" panose="020F0502020204030204" pitchFamily="34" charset="0"/>
            </a:endParaRPr>
          </a:p>
        </p:txBody>
      </p:sp>
      <p:sp>
        <p:nvSpPr>
          <p:cNvPr id="6" name="AutoShape 8"/>
          <p:cNvSpPr>
            <a:spLocks noChangeArrowheads="1"/>
          </p:cNvSpPr>
          <p:nvPr/>
        </p:nvSpPr>
        <p:spPr bwMode="auto">
          <a:xfrm>
            <a:off x="111716" y="1191067"/>
            <a:ext cx="2312702" cy="4953286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latin typeface="Calibri" panose="020F0502020204030204" pitchFamily="34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69789" y="1313771"/>
            <a:ext cx="235462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INPUTS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GB" altLang="en-US" sz="8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dirty="0">
                <a:cs typeface="Times New Roman" panose="02020603050405020304" pitchFamily="18" charset="0"/>
              </a:rPr>
              <a:t>▪ </a:t>
            </a:r>
            <a:r>
              <a:rPr lang="en-US" sz="2000" b="1" dirty="0">
                <a:latin typeface="+mn-lt"/>
                <a:cs typeface="Times New Roman" panose="02020603050405020304" pitchFamily="18" charset="0"/>
              </a:rPr>
              <a:t>crop g</a:t>
            </a:r>
            <a:r>
              <a:rPr lang="en-GB" altLang="en-US" sz="2000" b="1" dirty="0" err="1">
                <a:latin typeface="+mn-lt"/>
              </a:rPr>
              <a:t>enotype</a:t>
            </a:r>
            <a:r>
              <a:rPr lang="en-GB" altLang="en-US" sz="2000" b="1" dirty="0">
                <a:latin typeface="+mn-lt"/>
              </a:rPr>
              <a:t> info</a:t>
            </a:r>
            <a:endParaRPr lang="en-GB" altLang="en-US" sz="7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▪ </a:t>
            </a:r>
            <a:r>
              <a:rPr lang="en-US" sz="1800" b="1" dirty="0">
                <a:latin typeface="+mn-lt"/>
                <a:cs typeface="Times New Roman" panose="02020603050405020304" pitchFamily="18" charset="0"/>
              </a:rPr>
              <a:t>S</a:t>
            </a:r>
            <a:r>
              <a:rPr lang="en-GB" altLang="en-US" sz="1800" b="1" dirty="0">
                <a:latin typeface="+mn-lt"/>
              </a:rPr>
              <a:t>oil </a:t>
            </a:r>
            <a:r>
              <a:rPr lang="en-GB" altLang="en-US" sz="1800" dirty="0">
                <a:latin typeface="+mn-lt"/>
              </a:rPr>
              <a:t>physical/chemical properties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740202" y="1313771"/>
            <a:ext cx="216890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OUTPUTS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GB" altLang="en-US" sz="8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Yield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Biomass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8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solidFill>
                  <a:srgbClr val="FF0000"/>
                </a:solidFill>
                <a:latin typeface="Calibri" panose="020F0502020204030204" pitchFamily="34" charset="0"/>
              </a:rPr>
              <a:t>Soil moisture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Soil temperature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8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Phenology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8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LAI, ET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and many more.</a:t>
            </a:r>
            <a:endParaRPr lang="en-GB" altLang="en-US" sz="20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868543" y="1316902"/>
            <a:ext cx="344836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CROP MODEL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20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Based on </a:t>
            </a:r>
            <a:r>
              <a:rPr lang="en-GB" altLang="en-US" sz="2000" b="1" dirty="0">
                <a:latin typeface="Calibri" panose="020F0502020204030204" pitchFamily="34" charset="0"/>
              </a:rPr>
              <a:t>mathematical</a:t>
            </a:r>
            <a:r>
              <a:rPr lang="en-GB" altLang="en-US" sz="2000" dirty="0">
                <a:latin typeface="Calibri" panose="020F0502020204030204" pitchFamily="34" charset="0"/>
              </a:rPr>
              <a:t> equations </a:t>
            </a:r>
          </a:p>
        </p:txBody>
      </p:sp>
      <p:sp>
        <p:nvSpPr>
          <p:cNvPr id="10" name="AutoShape 11"/>
          <p:cNvSpPr>
            <a:spLocks noChangeArrowheads="1"/>
          </p:cNvSpPr>
          <p:nvPr/>
        </p:nvSpPr>
        <p:spPr bwMode="auto">
          <a:xfrm>
            <a:off x="2465922" y="2656541"/>
            <a:ext cx="349773" cy="921400"/>
          </a:xfrm>
          <a:prstGeom prst="rightArrow">
            <a:avLst>
              <a:gd name="adj1" fmla="val 50000"/>
              <a:gd name="adj2" fmla="val 35714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Calibri" panose="020F050202020403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68543" y="2646397"/>
            <a:ext cx="344836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US" dirty="0"/>
              <a:t>phenology (emergence- flowering- maturity)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US" dirty="0"/>
              <a:t>Light interception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US" dirty="0"/>
              <a:t>Assimilation (Photosynthesis)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US" dirty="0"/>
              <a:t>Respiration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US" dirty="0"/>
              <a:t>Assimilate partitioning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US" dirty="0"/>
              <a:t>Leaf area dynamics (growth and decay)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US" dirty="0"/>
              <a:t>Evapotranspiration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US" dirty="0"/>
              <a:t>Soil water balance and drought response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US" dirty="0"/>
              <a:t>Nitrogen/Carbon balance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789" y="4499258"/>
            <a:ext cx="25755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▪ </a:t>
            </a:r>
            <a:r>
              <a:rPr lang="en-US" b="1" dirty="0"/>
              <a:t>Management</a:t>
            </a:r>
            <a:r>
              <a:rPr lang="en-US" dirty="0"/>
              <a:t>: </a:t>
            </a:r>
          </a:p>
          <a:p>
            <a:r>
              <a:rPr lang="en-US" dirty="0"/>
              <a:t>  Planting, harvesting  </a:t>
            </a:r>
          </a:p>
          <a:p>
            <a:r>
              <a:rPr lang="en-US" dirty="0"/>
              <a:t>  fertilizer, irrigation,</a:t>
            </a:r>
          </a:p>
          <a:p>
            <a:r>
              <a:rPr lang="en-US" dirty="0"/>
              <a:t>  tillage, mulch/residue</a:t>
            </a:r>
          </a:p>
          <a:p>
            <a:r>
              <a:rPr lang="en-US" dirty="0"/>
              <a:t>crop rotation etc. 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789" y="3204668"/>
            <a:ext cx="228751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▪ </a:t>
            </a:r>
            <a:r>
              <a:rPr lang="en-US" dirty="0">
                <a:solidFill>
                  <a:srgbClr val="FF0000"/>
                </a:solidFill>
              </a:rPr>
              <a:t>Daily/hourly </a:t>
            </a:r>
            <a:r>
              <a:rPr lang="en-US" b="1" dirty="0">
                <a:solidFill>
                  <a:srgbClr val="FF0000"/>
                </a:solidFill>
              </a:rPr>
              <a:t>weather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 err="1">
                <a:solidFill>
                  <a:srgbClr val="FF0000"/>
                </a:solidFill>
              </a:rPr>
              <a:t>Tmin,Tmax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Srad</a:t>
            </a:r>
            <a:r>
              <a:rPr lang="en-US" dirty="0">
                <a:solidFill>
                  <a:srgbClr val="FF0000"/>
                </a:solidFill>
              </a:rPr>
              <a:t>, Rain</a:t>
            </a:r>
            <a:r>
              <a:rPr lang="en-US" dirty="0"/>
              <a:t>, Wind speed, Vapor Pressure  </a:t>
            </a:r>
          </a:p>
        </p:txBody>
      </p:sp>
      <p:sp>
        <p:nvSpPr>
          <p:cNvPr id="3" name="AutoShape 9">
            <a:extLst>
              <a:ext uri="{FF2B5EF4-FFF2-40B4-BE49-F238E27FC236}">
                <a16:creationId xmlns:a16="http://schemas.microsoft.com/office/drawing/2014/main" id="{ACACE326-1DDA-803F-7B10-EAA0EB1FD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1029" y="1191067"/>
            <a:ext cx="2168906" cy="4452416"/>
          </a:xfrm>
          <a:prstGeom prst="roundRect">
            <a:avLst>
              <a:gd name="adj" fmla="val 16667"/>
            </a:avLst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Calibri" panose="020F0502020204030204" pitchFamily="34" charset="0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DBEE1153-9203-8760-E3ED-30F6CA48B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3232" y="1313771"/>
            <a:ext cx="2048313" cy="420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9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Field Observations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GB" altLang="en-US" sz="8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Yield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Biomass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8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Soil moisture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Soil temperature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8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Phenology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8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LAI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8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Soil 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Soil C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8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ET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:</a:t>
            </a:r>
          </a:p>
        </p:txBody>
      </p: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BC8F0F8F-C50C-CDD0-6CC3-AAFE16B0240E}"/>
              </a:ext>
            </a:extLst>
          </p:cNvPr>
          <p:cNvSpPr/>
          <p:nvPr/>
        </p:nvSpPr>
        <p:spPr>
          <a:xfrm>
            <a:off x="8971674" y="3204667"/>
            <a:ext cx="840297" cy="494877"/>
          </a:xfrm>
          <a:prstGeom prst="leftRightArrow">
            <a:avLst/>
          </a:prstGeom>
          <a:gradFill flip="none" rotWithShape="1">
            <a:gsLst>
              <a:gs pos="0">
                <a:schemeClr val="accent4">
                  <a:lumMod val="75000"/>
                  <a:tint val="66000"/>
                  <a:satMod val="160000"/>
                </a:schemeClr>
              </a:gs>
              <a:gs pos="50000">
                <a:schemeClr val="accent4">
                  <a:lumMod val="75000"/>
                  <a:tint val="44500"/>
                  <a:satMod val="160000"/>
                </a:schemeClr>
              </a:gs>
              <a:gs pos="100000">
                <a:schemeClr val="accent4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08BE01-70A1-DBE7-4264-4584C65B4828}"/>
              </a:ext>
            </a:extLst>
          </p:cNvPr>
          <p:cNvSpPr txBox="1"/>
          <p:nvPr/>
        </p:nvSpPr>
        <p:spPr>
          <a:xfrm>
            <a:off x="8649672" y="2493945"/>
            <a:ext cx="15140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Model validation</a:t>
            </a:r>
          </a:p>
          <a:p>
            <a:pPr algn="ctr"/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AutoShape 11">
            <a:extLst>
              <a:ext uri="{FF2B5EF4-FFF2-40B4-BE49-F238E27FC236}">
                <a16:creationId xmlns:a16="http://schemas.microsoft.com/office/drawing/2014/main" id="{BDC864CB-8E18-F5C2-1034-8EDD0608D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9146" y="2656541"/>
            <a:ext cx="349773" cy="921400"/>
          </a:xfrm>
          <a:prstGeom prst="rightArrow">
            <a:avLst>
              <a:gd name="adj1" fmla="val 50000"/>
              <a:gd name="adj2" fmla="val 35714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AF35A6-A232-5199-5516-FCDF6F0AC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123" y="4293282"/>
            <a:ext cx="3271848" cy="259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61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0545B3-8DD6-B2D5-6FB6-7E369F63E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953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F48634-D174-1876-2812-46C8C74A1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754" y="2030047"/>
            <a:ext cx="4965895" cy="48279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6B9F1B-1D02-07FF-F17B-31D6A55BB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729" y="2133586"/>
            <a:ext cx="5390271" cy="472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304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09AEF-076F-BC00-5B66-557D951A0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0E81B-589B-0E61-7FF8-1A7178E69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145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5761</TotalTime>
  <Words>217</Words>
  <Application>Microsoft Office PowerPoint</Application>
  <PresentationFormat>Widescreen</PresentationFormat>
  <Paragraphs>56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Times New Roman</vt:lpstr>
      <vt:lpstr>Office Theme</vt:lpstr>
      <vt:lpstr>Process-based Crop Simulation Models</vt:lpstr>
      <vt:lpstr>PowerPoint Presentation</vt:lpstr>
      <vt:lpstr>Python script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Han, Eunjin - REE-ARS</dc:creator>
  <cp:lastModifiedBy>Han, Eunjin - REE-ARS</cp:lastModifiedBy>
  <cp:revision>3</cp:revision>
  <dcterms:created xsi:type="dcterms:W3CDTF">2026-03-19T19:44:11Z</dcterms:created>
  <dcterms:modified xsi:type="dcterms:W3CDTF">2026-03-23T19:45:41Z</dcterms:modified>
</cp:coreProperties>
</file>